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Montserrat Medium" panose="000006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84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62AF-937A-9F64-311A-3C5A2215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44AE3-DC25-1B75-106E-622B41A88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3F437-FACC-2125-F10F-965E336EB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FF196-445D-0396-0105-172CEDDA11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9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509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1143000" y="785331"/>
            <a:ext cx="6858000" cy="403296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IN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Presentation of </a:t>
            </a:r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CO-OP Project at Industry (Module-2) </a:t>
            </a:r>
            <a:r>
              <a:rPr lang="en-IN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(22CS421)</a:t>
            </a:r>
          </a:p>
          <a:p>
            <a:pPr algn="ctr">
              <a:spcBef>
                <a:spcPts val="300"/>
              </a:spcBef>
            </a:pPr>
            <a:r>
              <a:rPr lang="en-US" sz="135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</a:p>
          <a:p>
            <a:pPr algn="ctr">
              <a:spcBef>
                <a:spcPts val="300"/>
              </a:spcBef>
            </a:pPr>
            <a:endParaRPr lang="en-US" sz="135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Complex Campus Networks Using Secure Software Defined Networking (SDN)</a:t>
            </a:r>
          </a:p>
          <a:p>
            <a:pPr algn="ctr">
              <a:spcBef>
                <a:spcPts val="300"/>
              </a:spcBef>
            </a:pPr>
            <a:br>
              <a:rPr lang="en-US" sz="1350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Names: Nikhil, Bharat, Nampreet Singh, Jatin Sharma</a:t>
            </a:r>
            <a:endParaRPr lang="en-US" sz="135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sz="1350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 No.: 2210990609, 2210990212, 2210990596, 22109911714</a:t>
            </a:r>
          </a:p>
          <a:p>
            <a:pPr algn="ctr">
              <a:spcBef>
                <a:spcPts val="300"/>
              </a:spcBef>
            </a:pPr>
            <a:endParaRPr lang="en-US" sz="135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sz="1350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By</a:t>
            </a:r>
          </a:p>
          <a:p>
            <a:pPr algn="ctr">
              <a:spcBef>
                <a:spcPts val="300"/>
              </a:spcBef>
            </a:pPr>
            <a:r>
              <a:rPr lang="en-US" sz="1350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Preeti Saini</a:t>
            </a:r>
          </a:p>
          <a:p>
            <a:pPr algn="ctr">
              <a:spcBef>
                <a:spcPts val="300"/>
              </a:spcBef>
            </a:pPr>
            <a:endParaRPr lang="en-US" sz="135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300"/>
              </a:spcBef>
            </a:pPr>
            <a:endParaRPr lang="en-US" sz="135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sz="15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Science and Engineering, </a:t>
            </a:r>
          </a:p>
          <a:p>
            <a:pPr algn="ctr">
              <a:spcBef>
                <a:spcPts val="300"/>
              </a:spcBef>
            </a:pPr>
            <a:r>
              <a:rPr lang="en-US" sz="15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300"/>
              </a:spcBef>
            </a:pPr>
            <a:endParaRPr lang="en-US" sz="135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481"/>
              </a:spcBef>
            </a:pPr>
            <a:endParaRPr lang="en-US" sz="135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8EF43A-636E-1B78-0077-7ADA76C8D154}"/>
              </a:ext>
            </a:extLst>
          </p:cNvPr>
          <p:cNvSpPr/>
          <p:nvPr/>
        </p:nvSpPr>
        <p:spPr>
          <a:xfrm>
            <a:off x="0" y="0"/>
            <a:ext cx="9143999" cy="5767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0ABA1-5B91-02DF-2060-8605C8A1D81C}"/>
              </a:ext>
            </a:extLst>
          </p:cNvPr>
          <p:cNvSpPr/>
          <p:nvPr/>
        </p:nvSpPr>
        <p:spPr>
          <a:xfrm>
            <a:off x="7405729" y="88488"/>
            <a:ext cx="1477108" cy="483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33C64-18A2-7029-848B-45A772742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798" y="149310"/>
            <a:ext cx="1276839" cy="4223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24DDA6-6CDE-71BC-90BE-654DF180FB7F}"/>
              </a:ext>
            </a:extLst>
          </p:cNvPr>
          <p:cNvSpPr/>
          <p:nvPr/>
        </p:nvSpPr>
        <p:spPr>
          <a:xfrm>
            <a:off x="0" y="4881716"/>
            <a:ext cx="9144000" cy="26178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36124B3-B856-DF5B-96CA-D76D200EC07B}"/>
              </a:ext>
            </a:extLst>
          </p:cNvPr>
          <p:cNvSpPr/>
          <p:nvPr/>
        </p:nvSpPr>
        <p:spPr>
          <a:xfrm>
            <a:off x="-189913" y="-91440"/>
            <a:ext cx="9333914" cy="5289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468288" y="1212205"/>
            <a:ext cx="4025578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What Is Secure SDN?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8288" y="1925762"/>
            <a:ext cx="8207425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Secure SDN combines the speed and flexibility of Software Defined Networking with the authentication rigor of a Public Key Infrastructure — delivering a unified, centralized platform for configuration, monitoring, and policy enforcement.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68288" y="2504331"/>
            <a:ext cx="2646611" cy="1426890"/>
          </a:xfrm>
          <a:prstGeom prst="roundRect">
            <a:avLst>
              <a:gd name="adj" fmla="val 1407"/>
            </a:avLst>
          </a:prstGeom>
          <a:solidFill>
            <a:srgbClr val="4D1529"/>
          </a:solidFill>
          <a:ln/>
        </p:spPr>
      </p:sp>
      <p:sp>
        <p:nvSpPr>
          <p:cNvPr id="5" name="Text 3"/>
          <p:cNvSpPr/>
          <p:nvPr/>
        </p:nvSpPr>
        <p:spPr>
          <a:xfrm>
            <a:off x="602084" y="2638127"/>
            <a:ext cx="2241352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Control Plane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2084" y="2941365"/>
            <a:ext cx="237901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A central controller executes all management functions — RADIUS, NTP, load balancing — independent of the data plane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8695" y="2504331"/>
            <a:ext cx="2646611" cy="1426890"/>
          </a:xfrm>
          <a:prstGeom prst="roundRect">
            <a:avLst>
              <a:gd name="adj" fmla="val 1407"/>
            </a:avLst>
          </a:prstGeom>
          <a:solidFill>
            <a:srgbClr val="4D1529"/>
          </a:solidFill>
          <a:ln/>
        </p:spPr>
      </p:sp>
      <p:sp>
        <p:nvSpPr>
          <p:cNvPr id="8" name="Text 6"/>
          <p:cNvSpPr/>
          <p:nvPr/>
        </p:nvSpPr>
        <p:spPr>
          <a:xfrm>
            <a:off x="3382491" y="2638127"/>
            <a:ext cx="2241352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Data Plane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2491" y="2941365"/>
            <a:ext cx="237901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OpenFlow-compliant switches handle packet forwarding based on rules pushed down from the controller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29102" y="2504331"/>
            <a:ext cx="2646611" cy="1426890"/>
          </a:xfrm>
          <a:prstGeom prst="roundRect">
            <a:avLst>
              <a:gd name="adj" fmla="val 1407"/>
            </a:avLst>
          </a:prstGeom>
          <a:solidFill>
            <a:srgbClr val="4D1529"/>
          </a:solidFill>
          <a:ln/>
        </p:spPr>
      </p:sp>
      <p:sp>
        <p:nvSpPr>
          <p:cNvPr id="11" name="Text 9"/>
          <p:cNvSpPr/>
          <p:nvPr/>
        </p:nvSpPr>
        <p:spPr>
          <a:xfrm>
            <a:off x="6162898" y="2638127"/>
            <a:ext cx="2241352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Management Plane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62898" y="2941365"/>
            <a:ext cx="237901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Provides automated device configuration, BYOD support, and strong authentication and authorization policies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289420-3BCE-C1DB-C9CD-99EB1F47D9B2}"/>
              </a:ext>
            </a:extLst>
          </p:cNvPr>
          <p:cNvSpPr/>
          <p:nvPr/>
        </p:nvSpPr>
        <p:spPr>
          <a:xfrm>
            <a:off x="-189914" y="-91440"/>
            <a:ext cx="9333913" cy="5767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FE0DD-5A90-BC8D-26F1-055F8D3E5EC5}"/>
              </a:ext>
            </a:extLst>
          </p:cNvPr>
          <p:cNvSpPr/>
          <p:nvPr/>
        </p:nvSpPr>
        <p:spPr>
          <a:xfrm>
            <a:off x="7405729" y="0"/>
            <a:ext cx="1477108" cy="483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8BF75A0-EF29-302B-5C95-167D5DB1C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798" y="60822"/>
            <a:ext cx="1276839" cy="422339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7207C432-F0CF-0DFC-D312-759A1CC0F462}"/>
              </a:ext>
            </a:extLst>
          </p:cNvPr>
          <p:cNvSpPr/>
          <p:nvPr/>
        </p:nvSpPr>
        <p:spPr>
          <a:xfrm>
            <a:off x="0" y="-14388"/>
            <a:ext cx="7405727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Introduction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7E10F2-6803-3D03-A49F-F21EC76F2E39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91F33A6-E51F-34A8-7EA7-5CD97227431A}"/>
              </a:ext>
            </a:extLst>
          </p:cNvPr>
          <p:cNvSpPr/>
          <p:nvPr/>
        </p:nvSpPr>
        <p:spPr>
          <a:xfrm>
            <a:off x="-175165" y="-101820"/>
            <a:ext cx="9319166" cy="5289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ysClr val="windowText" lastClr="0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68288" y="831131"/>
            <a:ext cx="6007968" cy="379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Campus Networks Are Under Pressure</a:t>
            </a:r>
            <a:endParaRPr lang="en-US" sz="235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88" y="1686446"/>
            <a:ext cx="4452045" cy="25227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8174" y="1442219"/>
            <a:ext cx="2692226" cy="193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Today's university networks face mounting complexity: an explosion of connected devices, rising user expectations for speed and security, and infrastructure built on heterogeneous hardware from competing vendors.</a:t>
            </a:r>
            <a:endParaRPr lang="en-US" sz="85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Traditional network management offers insufficient centralized control, leaving administrators reactive rather than proactive — and unable to keep pace with the dynamic demands of modern academic environments.</a:t>
            </a:r>
            <a:endParaRPr lang="en-US" sz="85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988174" y="3489499"/>
            <a:ext cx="2692226" cy="942231"/>
          </a:xfrm>
          <a:prstGeom prst="roundRect">
            <a:avLst>
              <a:gd name="adj" fmla="val 1811"/>
            </a:avLst>
          </a:prstGeom>
          <a:solidFill>
            <a:srgbClr val="4B3F02"/>
          </a:solidFill>
          <a:ln/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837D27-B2F8-89D1-DDAB-5327FD9CFB1C}"/>
              </a:ext>
            </a:extLst>
          </p:cNvPr>
          <p:cNvSpPr/>
          <p:nvPr/>
        </p:nvSpPr>
        <p:spPr>
          <a:xfrm>
            <a:off x="-189914" y="-91440"/>
            <a:ext cx="9333913" cy="5767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382CBB-E916-1583-E81A-0BA2ABF2FAA5}"/>
              </a:ext>
            </a:extLst>
          </p:cNvPr>
          <p:cNvSpPr/>
          <p:nvPr/>
        </p:nvSpPr>
        <p:spPr>
          <a:xfrm>
            <a:off x="7405729" y="0"/>
            <a:ext cx="1477108" cy="483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3A682C-DCEC-33D6-AA45-91928AF07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798" y="60822"/>
            <a:ext cx="1276839" cy="42233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879" y="3655963"/>
            <a:ext cx="142131" cy="113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7714" y="3614589"/>
            <a:ext cx="2208981" cy="67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Existing management frameworks lack the flexibility and security depth required for modern higher education campuses.</a:t>
            </a:r>
            <a:endParaRPr lang="en-US" sz="8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-189915" y="11455"/>
            <a:ext cx="7595642" cy="687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Problem</a:t>
            </a:r>
            <a:r>
              <a:rPr lang="en-US" sz="24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 Statement</a:t>
            </a:r>
            <a:endParaRPr lang="en-US" sz="2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2FB2DE-8FF6-B2AC-7DB8-0E8478F7BE06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BB4C840-A090-F008-EB03-6D9EA9AC3271}"/>
              </a:ext>
            </a:extLst>
          </p:cNvPr>
          <p:cNvSpPr/>
          <p:nvPr/>
        </p:nvSpPr>
        <p:spPr>
          <a:xfrm>
            <a:off x="-189913" y="-91440"/>
            <a:ext cx="9333914" cy="5289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92612" y="1063154"/>
            <a:ext cx="14288" cy="3622104"/>
          </a:xfrm>
          <a:prstGeom prst="roundRect">
            <a:avLst>
              <a:gd name="adj" fmla="val 133459"/>
            </a:avLst>
          </a:prstGeom>
          <a:solidFill>
            <a:srgbClr val="662E42"/>
          </a:solidFill>
          <a:ln/>
        </p:spPr>
      </p:sp>
      <p:sp>
        <p:nvSpPr>
          <p:cNvPr id="5" name="Shape 2"/>
          <p:cNvSpPr/>
          <p:nvPr/>
        </p:nvSpPr>
        <p:spPr>
          <a:xfrm>
            <a:off x="3978325" y="1198959"/>
            <a:ext cx="254198" cy="14288"/>
          </a:xfrm>
          <a:prstGeom prst="roundRect">
            <a:avLst>
              <a:gd name="adj" fmla="val 133459"/>
            </a:avLst>
          </a:prstGeom>
          <a:solidFill>
            <a:srgbClr val="662E42"/>
          </a:solidFill>
          <a:ln/>
        </p:spPr>
      </p:sp>
      <p:sp>
        <p:nvSpPr>
          <p:cNvPr id="6" name="Shape 3"/>
          <p:cNvSpPr/>
          <p:nvPr/>
        </p:nvSpPr>
        <p:spPr>
          <a:xfrm>
            <a:off x="3944950" y="1158441"/>
            <a:ext cx="95324" cy="95324"/>
          </a:xfrm>
          <a:prstGeom prst="roundRect">
            <a:avLst>
              <a:gd name="adj" fmla="val 299767"/>
            </a:avLst>
          </a:prstGeom>
          <a:solidFill>
            <a:srgbClr val="FFB393"/>
          </a:solidFill>
          <a:ln/>
        </p:spPr>
      </p:sp>
      <p:sp>
        <p:nvSpPr>
          <p:cNvPr id="7" name="Text 4"/>
          <p:cNvSpPr/>
          <p:nvPr/>
        </p:nvSpPr>
        <p:spPr>
          <a:xfrm>
            <a:off x="4501083" y="1106835"/>
            <a:ext cx="2152129" cy="2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2006 — Stanford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01083" y="1391096"/>
            <a:ext cx="4174629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Clean Slate research initiative introduces the foundational concept of Software Defined Networking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978325" y="2164854"/>
            <a:ext cx="254198" cy="14288"/>
          </a:xfrm>
          <a:prstGeom prst="roundRect">
            <a:avLst>
              <a:gd name="adj" fmla="val 133459"/>
            </a:avLst>
          </a:prstGeom>
          <a:solidFill>
            <a:srgbClr val="662E42"/>
          </a:solidFill>
          <a:ln/>
        </p:spPr>
      </p:sp>
      <p:sp>
        <p:nvSpPr>
          <p:cNvPr id="10" name="Shape 7"/>
          <p:cNvSpPr/>
          <p:nvPr/>
        </p:nvSpPr>
        <p:spPr>
          <a:xfrm>
            <a:off x="3944950" y="2124335"/>
            <a:ext cx="95324" cy="95324"/>
          </a:xfrm>
          <a:prstGeom prst="roundRect">
            <a:avLst>
              <a:gd name="adj" fmla="val 299767"/>
            </a:avLst>
          </a:prstGeom>
          <a:solidFill>
            <a:srgbClr val="FFB393"/>
          </a:solidFill>
          <a:ln/>
        </p:spPr>
      </p:sp>
      <p:sp>
        <p:nvSpPr>
          <p:cNvPr id="11" name="Text 8"/>
          <p:cNvSpPr/>
          <p:nvPr/>
        </p:nvSpPr>
        <p:spPr>
          <a:xfrm>
            <a:off x="4501083" y="2072729"/>
            <a:ext cx="2152129" cy="2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2009 — Decoupling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01083" y="2356991"/>
            <a:ext cx="4174629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Separation of control plane from data plane lays the groundwork for centralized network management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978325" y="3130748"/>
            <a:ext cx="254198" cy="14288"/>
          </a:xfrm>
          <a:prstGeom prst="roundRect">
            <a:avLst>
              <a:gd name="adj" fmla="val 133459"/>
            </a:avLst>
          </a:prstGeom>
          <a:solidFill>
            <a:srgbClr val="662E42"/>
          </a:solidFill>
          <a:ln/>
        </p:spPr>
      </p:sp>
      <p:sp>
        <p:nvSpPr>
          <p:cNvPr id="14" name="Shape 11"/>
          <p:cNvSpPr/>
          <p:nvPr/>
        </p:nvSpPr>
        <p:spPr>
          <a:xfrm>
            <a:off x="3944950" y="3090230"/>
            <a:ext cx="95324" cy="95324"/>
          </a:xfrm>
          <a:prstGeom prst="roundRect">
            <a:avLst>
              <a:gd name="adj" fmla="val 299767"/>
            </a:avLst>
          </a:prstGeom>
          <a:solidFill>
            <a:srgbClr val="FFB393"/>
          </a:solidFill>
          <a:ln/>
        </p:spPr>
      </p:sp>
      <p:sp>
        <p:nvSpPr>
          <p:cNvPr id="15" name="Text 12"/>
          <p:cNvSpPr/>
          <p:nvPr/>
        </p:nvSpPr>
        <p:spPr>
          <a:xfrm>
            <a:off x="4501083" y="3038624"/>
            <a:ext cx="2152129" cy="2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2012 — Google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01083" y="3322886"/>
            <a:ext cx="4174629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Google successfully deploys SDN across its global backbone network, proving enterprise-scale viability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978325" y="4096643"/>
            <a:ext cx="254198" cy="14288"/>
          </a:xfrm>
          <a:prstGeom prst="roundRect">
            <a:avLst>
              <a:gd name="adj" fmla="val 133459"/>
            </a:avLst>
          </a:prstGeom>
          <a:solidFill>
            <a:srgbClr val="662E42"/>
          </a:solidFill>
          <a:ln/>
        </p:spPr>
      </p:sp>
      <p:sp>
        <p:nvSpPr>
          <p:cNvPr id="18" name="Shape 15"/>
          <p:cNvSpPr/>
          <p:nvPr/>
        </p:nvSpPr>
        <p:spPr>
          <a:xfrm>
            <a:off x="3944950" y="4056125"/>
            <a:ext cx="95324" cy="95324"/>
          </a:xfrm>
          <a:prstGeom prst="roundRect">
            <a:avLst>
              <a:gd name="adj" fmla="val 299767"/>
            </a:avLst>
          </a:prstGeom>
          <a:solidFill>
            <a:srgbClr val="FFB393"/>
          </a:solidFill>
          <a:ln/>
        </p:spPr>
      </p:sp>
      <p:sp>
        <p:nvSpPr>
          <p:cNvPr id="19" name="Text 16"/>
          <p:cNvSpPr/>
          <p:nvPr/>
        </p:nvSpPr>
        <p:spPr>
          <a:xfrm>
            <a:off x="4501083" y="4004518"/>
            <a:ext cx="2152129" cy="2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Today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01083" y="4288780"/>
            <a:ext cx="4174629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SDN is a primary architectural focus across technology companies and higher education institutions worldwide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42526F-0D40-0B56-4557-35469D16EFC5}"/>
              </a:ext>
            </a:extLst>
          </p:cNvPr>
          <p:cNvSpPr/>
          <p:nvPr/>
        </p:nvSpPr>
        <p:spPr>
          <a:xfrm>
            <a:off x="-189914" y="-91440"/>
            <a:ext cx="9333913" cy="5767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-189916" y="0"/>
            <a:ext cx="7595643" cy="4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History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513875-64F4-24FA-5746-656822BFED4E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E68CFC-C55F-2016-2527-2356F0423748}"/>
              </a:ext>
            </a:extLst>
          </p:cNvPr>
          <p:cNvSpPr/>
          <p:nvPr/>
        </p:nvSpPr>
        <p:spPr>
          <a:xfrm>
            <a:off x="7405729" y="0"/>
            <a:ext cx="1477108" cy="483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CEBB702-180C-E59B-302E-FD8EE8901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798" y="60822"/>
            <a:ext cx="1276839" cy="4223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07F0043-9179-5B0E-CEF4-7B3E7F2C58E5}"/>
              </a:ext>
            </a:extLst>
          </p:cNvPr>
          <p:cNvSpPr/>
          <p:nvPr/>
        </p:nvSpPr>
        <p:spPr>
          <a:xfrm>
            <a:off x="-91439" y="0"/>
            <a:ext cx="9235440" cy="5194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07" y="494705"/>
            <a:ext cx="4256336" cy="42563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07" y="494705"/>
            <a:ext cx="4256336" cy="4256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58320" y="2542654"/>
            <a:ext cx="4256336" cy="160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The proposed campus network management system is organized into three coordinated planes, each with a distinct operational role: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39105" y="4902622"/>
            <a:ext cx="1349276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chemeClr val="bg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Management Plane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339105" y="5034111"/>
            <a:ext cx="3145408" cy="80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chemeClr val="bg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Central hub for orchestration, device configuration, and policy enforcement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3242146" y="4902622"/>
            <a:ext cx="1349276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chemeClr val="bg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Control Plane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3242146" y="5034111"/>
            <a:ext cx="2688208" cy="160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chemeClr val="bg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Translates application requirements into OpenFlow forwarding rules via the northbound interface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6145188" y="4902622"/>
            <a:ext cx="1349276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chemeClr val="bg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Plane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45188" y="5034111"/>
            <a:ext cx="2688282" cy="160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chemeClr val="bg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OpenFlow-compliant switches execute forwarding decisions and collect real-time network status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F3E674-8D2B-2304-F5AD-484E73A605F8}"/>
              </a:ext>
            </a:extLst>
          </p:cNvPr>
          <p:cNvSpPr/>
          <p:nvPr/>
        </p:nvSpPr>
        <p:spPr>
          <a:xfrm>
            <a:off x="-91439" y="0"/>
            <a:ext cx="9235438" cy="58187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E98C9B-8E9B-70D1-512D-509E97BA08C1}"/>
              </a:ext>
            </a:extLst>
          </p:cNvPr>
          <p:cNvSpPr/>
          <p:nvPr/>
        </p:nvSpPr>
        <p:spPr>
          <a:xfrm>
            <a:off x="7405729" y="98718"/>
            <a:ext cx="1477108" cy="483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C92FBBE-A33B-0C4D-31C4-F68A08AE5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798" y="159540"/>
            <a:ext cx="1276839" cy="42233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-91438" y="50851"/>
            <a:ext cx="7497166" cy="483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5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Objective : Three-Plane System Architecture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3C96CF-FF56-5E2A-F6B2-1A691BCB6CBA}"/>
              </a:ext>
            </a:extLst>
          </p:cNvPr>
          <p:cNvSpPr/>
          <p:nvPr/>
        </p:nvSpPr>
        <p:spPr>
          <a:xfrm>
            <a:off x="-91439" y="4984545"/>
            <a:ext cx="9235439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E25CC41-F952-437E-624E-DB5106C1777D}"/>
              </a:ext>
            </a:extLst>
          </p:cNvPr>
          <p:cNvSpPr/>
          <p:nvPr/>
        </p:nvSpPr>
        <p:spPr>
          <a:xfrm>
            <a:off x="-189912" y="-91440"/>
            <a:ext cx="9333912" cy="5289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24383" y="1020812"/>
            <a:ext cx="3999681" cy="554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The </a:t>
            </a:r>
            <a:r>
              <a:rPr lang="en-US" sz="950" b="1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Dynamic Access Control Algorithm (DACA)</a:t>
            </a: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 evaluates each user's role and device type at connection time to assign granular access privileges — automatically and in real time.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4383" y="1699171"/>
            <a:ext cx="3999681" cy="1883792"/>
          </a:xfrm>
          <a:prstGeom prst="roundRect">
            <a:avLst>
              <a:gd name="adj" fmla="val 96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0441" y="1774627"/>
            <a:ext cx="120989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b="1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User Role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50343" y="1774627"/>
            <a:ext cx="120751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b="1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Laptop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47863" y="1774627"/>
            <a:ext cx="120751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b="1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Mobile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545384" y="1774627"/>
            <a:ext cx="120989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b="1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IoT / Other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0441" y="2105695"/>
            <a:ext cx="120989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Faculty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50343" y="2105695"/>
            <a:ext cx="1207517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Full Access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47863" y="2105695"/>
            <a:ext cx="750317" cy="36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Limited Access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45384" y="2105695"/>
            <a:ext cx="120989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No Access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0441" y="2621682"/>
            <a:ext cx="120989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Student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50343" y="2621682"/>
            <a:ext cx="750317" cy="36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Limited Access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7863" y="2621682"/>
            <a:ext cx="750317" cy="36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Internet Only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45384" y="2621682"/>
            <a:ext cx="120989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No Access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0441" y="3137669"/>
            <a:ext cx="120989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Staff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50343" y="3137669"/>
            <a:ext cx="750317" cy="36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Limited Access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547863" y="3137669"/>
            <a:ext cx="750317" cy="36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Limited Access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45384" y="3137669"/>
            <a:ext cx="1209898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No Access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4698" y="1045518"/>
            <a:ext cx="303163" cy="30316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724698" y="1486049"/>
            <a:ext cx="2074069" cy="20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Enhanced Security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24698" y="1797993"/>
            <a:ext cx="3999681" cy="36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Unauthorized access is restricted based on role and device policies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4698" y="2387575"/>
            <a:ext cx="303163" cy="303163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724698" y="2828106"/>
            <a:ext cx="2074069" cy="20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Adaptive Control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724698" y="3140050"/>
            <a:ext cx="3999681" cy="36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Access levels adjust automatically as roles or device types change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698" y="3729633"/>
            <a:ext cx="303163" cy="30316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24698" y="4170164"/>
            <a:ext cx="2074069" cy="20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Resource Efficiency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4724698" y="4482108"/>
            <a:ext cx="4419302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Users access only what they need, optimizing network utilization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774B73-26D2-A4AF-2DEE-516292D09373}"/>
              </a:ext>
            </a:extLst>
          </p:cNvPr>
          <p:cNvSpPr/>
          <p:nvPr/>
        </p:nvSpPr>
        <p:spPr>
          <a:xfrm>
            <a:off x="225083" y="1774627"/>
            <a:ext cx="4283612" cy="20588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40CDC1-8839-C6D8-D64D-6F9E60A6CCC5}"/>
              </a:ext>
            </a:extLst>
          </p:cNvPr>
          <p:cNvSpPr/>
          <p:nvPr/>
        </p:nvSpPr>
        <p:spPr>
          <a:xfrm>
            <a:off x="-189914" y="-91440"/>
            <a:ext cx="9333913" cy="5767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999EB4-94EC-2D7B-8BC9-4CC0B9D88569}"/>
              </a:ext>
            </a:extLst>
          </p:cNvPr>
          <p:cNvSpPr/>
          <p:nvPr/>
        </p:nvSpPr>
        <p:spPr>
          <a:xfrm>
            <a:off x="7405729" y="0"/>
            <a:ext cx="1477108" cy="483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9AA713F-E3EA-EBE4-773B-A0799CE17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798" y="60822"/>
            <a:ext cx="1276839" cy="42233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-189911" y="44544"/>
            <a:ext cx="7595640" cy="40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Algorithm 1: Dynamic Access Control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30568D-CABE-FA8A-B213-C94776C3251A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12F1CB9-8ABE-667A-95CF-1388643193FC}"/>
              </a:ext>
            </a:extLst>
          </p:cNvPr>
          <p:cNvSpPr/>
          <p:nvPr/>
        </p:nvSpPr>
        <p:spPr>
          <a:xfrm>
            <a:off x="-189914" y="-112542"/>
            <a:ext cx="9333914" cy="52646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53" y="1138461"/>
            <a:ext cx="5836080" cy="2494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6983" y="2920961"/>
            <a:ext cx="1539163" cy="155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Establish Baseline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99010" y="3117588"/>
            <a:ext cx="1545577" cy="22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Build baseline from historical traffic data.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3663" y="1276795"/>
            <a:ext cx="1545576" cy="310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Monitor in Real-Time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3663" y="1628654"/>
            <a:ext cx="1545576" cy="221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Continuously collect live traffic metrics.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37839" y="1432027"/>
            <a:ext cx="2105820" cy="155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Detect Deviation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37839" y="1628654"/>
            <a:ext cx="1545577" cy="221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Use ML to compare traffic to baseline.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77663" y="2921041"/>
            <a:ext cx="2105820" cy="155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Trigger Mitigation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77663" y="3117669"/>
            <a:ext cx="1545576" cy="221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Isolate, rate-limit, and notify admin.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77821" y="1862650"/>
            <a:ext cx="3323572" cy="1097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This algorithm continuously monitors network traffic and uses </a:t>
            </a:r>
            <a:r>
              <a:rPr lang="en-US" sz="1050" b="1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machine learning and behavioral analysis</a:t>
            </a: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 to establish a baseline of normal operations. Any significant deviation triggers an automated mitigation response.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457" y="3879986"/>
            <a:ext cx="223840" cy="1806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631" y="3876303"/>
            <a:ext cx="25567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Proactive Security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59631" y="4141961"/>
            <a:ext cx="2793807" cy="36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Threats are identified before they escalate into breaches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4385" y="3879986"/>
            <a:ext cx="223840" cy="1806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40559" y="3876303"/>
            <a:ext cx="260224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Automated Response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640559" y="4141961"/>
            <a:ext cx="2793807" cy="365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Isolates affected devices, applies rate limiting, and alerts administrators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5313" y="3879986"/>
            <a:ext cx="223840" cy="18060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21487" y="3876303"/>
            <a:ext cx="25567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Adaptive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421487" y="4141961"/>
            <a:ext cx="2793899" cy="54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Models improve accuracy over time by adapting to evolving traffic patterns</a:t>
            </a:r>
            <a:endParaRPr lang="en-US" sz="10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46A283-9021-DE0A-987A-B6402DA811AF}"/>
              </a:ext>
            </a:extLst>
          </p:cNvPr>
          <p:cNvSpPr/>
          <p:nvPr/>
        </p:nvSpPr>
        <p:spPr>
          <a:xfrm>
            <a:off x="-189913" y="-112542"/>
            <a:ext cx="9333913" cy="53264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D79C97-C48E-B2A8-9F8F-08D633A59541}"/>
              </a:ext>
            </a:extLst>
          </p:cNvPr>
          <p:cNvSpPr/>
          <p:nvPr/>
        </p:nvSpPr>
        <p:spPr>
          <a:xfrm>
            <a:off x="7293741" y="-28265"/>
            <a:ext cx="1400087" cy="446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645ED66-4C44-7E87-E63C-C8061344A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68" y="27903"/>
            <a:ext cx="1210261" cy="39002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-99864" y="-11243"/>
            <a:ext cx="743947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Algorithm 2: Anomaly Detection &amp; Mitigation</a:t>
            </a:r>
            <a:endParaRPr lang="en-US" sz="25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E1C4E5-B76A-BE80-B3D4-597F5398A80F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D467BE7-720B-DAEB-02E1-692B6B7CA951}"/>
              </a:ext>
            </a:extLst>
          </p:cNvPr>
          <p:cNvSpPr/>
          <p:nvPr/>
        </p:nvSpPr>
        <p:spPr>
          <a:xfrm>
            <a:off x="-189913" y="-91440"/>
            <a:ext cx="9333914" cy="5289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7288" y="1334616"/>
            <a:ext cx="4778425" cy="504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The Traffic Engineering and QoS Optimization Algorithm dynamically reroutes traffic to eliminate congestion and enforces application-specific quality-of-service policies — ensuring a seamless experience for every user on the network.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897288" y="1948309"/>
            <a:ext cx="2340843" cy="1417737"/>
          </a:xfrm>
          <a:prstGeom prst="roundRect">
            <a:avLst>
              <a:gd name="adj" fmla="val 1203"/>
            </a:avLst>
          </a:prstGeom>
          <a:solidFill>
            <a:srgbClr val="4D1529"/>
          </a:solidFill>
          <a:ln/>
        </p:spPr>
      </p:sp>
      <p:sp>
        <p:nvSpPr>
          <p:cNvPr id="6" name="Shape 3"/>
          <p:cNvSpPr/>
          <p:nvPr/>
        </p:nvSpPr>
        <p:spPr>
          <a:xfrm>
            <a:off x="4010992" y="2062014"/>
            <a:ext cx="341188" cy="341188"/>
          </a:xfrm>
          <a:prstGeom prst="roundRect">
            <a:avLst>
              <a:gd name="adj" fmla="val 16748621"/>
            </a:avLst>
          </a:prstGeom>
          <a:solidFill>
            <a:srgbClr val="FFB39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4829" y="2155850"/>
            <a:ext cx="153516" cy="1535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10992" y="2499866"/>
            <a:ext cx="204006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4CAB8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Congestion Detection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010992" y="2747367"/>
            <a:ext cx="2113434" cy="504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4CAB8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Analyzes real-time traffic to identify bottlenecks and reroute flows dynamically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334795" y="1948309"/>
            <a:ext cx="2340918" cy="1417737"/>
          </a:xfrm>
          <a:prstGeom prst="roundRect">
            <a:avLst>
              <a:gd name="adj" fmla="val 1203"/>
            </a:avLst>
          </a:prstGeom>
          <a:solidFill>
            <a:srgbClr val="4D1529"/>
          </a:solidFill>
          <a:ln/>
        </p:spPr>
      </p:sp>
      <p:sp>
        <p:nvSpPr>
          <p:cNvPr id="11" name="Shape 7"/>
          <p:cNvSpPr/>
          <p:nvPr/>
        </p:nvSpPr>
        <p:spPr>
          <a:xfrm>
            <a:off x="6448499" y="2062014"/>
            <a:ext cx="341188" cy="341188"/>
          </a:xfrm>
          <a:prstGeom prst="roundRect">
            <a:avLst>
              <a:gd name="adj" fmla="val 16748621"/>
            </a:avLst>
          </a:prstGeom>
          <a:solidFill>
            <a:srgbClr val="FFB3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2336" y="2155850"/>
            <a:ext cx="153516" cy="1535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8499" y="2499866"/>
            <a:ext cx="220191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4CAB8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QoS Policy Enforcement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448499" y="2747367"/>
            <a:ext cx="2113508" cy="504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4CAB8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Applies bandwidth reservation, rate limiting, and packet prioritization per application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3897288" y="3462710"/>
            <a:ext cx="4778425" cy="1249412"/>
          </a:xfrm>
          <a:prstGeom prst="roundRect">
            <a:avLst>
              <a:gd name="adj" fmla="val 1366"/>
            </a:avLst>
          </a:prstGeom>
          <a:solidFill>
            <a:srgbClr val="4D1529"/>
          </a:solidFill>
          <a:ln/>
        </p:spPr>
      </p:sp>
      <p:sp>
        <p:nvSpPr>
          <p:cNvPr id="16" name="Shape 11"/>
          <p:cNvSpPr/>
          <p:nvPr/>
        </p:nvSpPr>
        <p:spPr>
          <a:xfrm>
            <a:off x="4010992" y="3576414"/>
            <a:ext cx="341188" cy="341188"/>
          </a:xfrm>
          <a:prstGeom prst="roundRect">
            <a:avLst>
              <a:gd name="adj" fmla="val 16748621"/>
            </a:avLst>
          </a:prstGeom>
          <a:solidFill>
            <a:srgbClr val="FFB39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4829" y="3670250"/>
            <a:ext cx="153516" cy="1535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10992" y="4014267"/>
            <a:ext cx="197487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4CAB8"/>
                </a:solidFill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Dynamic Adaptation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010992" y="4261768"/>
            <a:ext cx="4551015" cy="336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4CAB8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Continuously re-evaluates traffic patterns and adjusts routing paths in real time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FCA828-4810-039E-279F-18BC4FE9E3A2}"/>
              </a:ext>
            </a:extLst>
          </p:cNvPr>
          <p:cNvSpPr/>
          <p:nvPr/>
        </p:nvSpPr>
        <p:spPr>
          <a:xfrm>
            <a:off x="-189913" y="-91440"/>
            <a:ext cx="9333913" cy="53264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39622B-AA0E-3425-37D0-F357B0D5930D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688041-0503-CDE5-30B7-61483689EE95}"/>
              </a:ext>
            </a:extLst>
          </p:cNvPr>
          <p:cNvSpPr/>
          <p:nvPr/>
        </p:nvSpPr>
        <p:spPr>
          <a:xfrm>
            <a:off x="7293741" y="-7163"/>
            <a:ext cx="1400087" cy="446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924471B-7A18-06FF-1C8E-C0388F5CCF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68" y="49005"/>
            <a:ext cx="1210261" cy="3900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86441" y="24532"/>
            <a:ext cx="7379610" cy="758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Algorithm 3: </a:t>
            </a:r>
            <a:r>
              <a:rPr lang="en-US" sz="25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Traffic</a:t>
            </a:r>
            <a:r>
              <a:rPr lang="en-US" sz="235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 Engineering &amp; QoS Optimization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6E8781-70DC-F47F-F78D-0062D298E6AB}"/>
              </a:ext>
            </a:extLst>
          </p:cNvPr>
          <p:cNvSpPr/>
          <p:nvPr/>
        </p:nvSpPr>
        <p:spPr>
          <a:xfrm>
            <a:off x="-189913" y="-91440"/>
            <a:ext cx="9333914" cy="5289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41474" y="497384"/>
            <a:ext cx="8902526" cy="83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In practice, all three algorithms operate together. But when prioritization is needed, the following guidance applies: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74" y="660871"/>
            <a:ext cx="4246364" cy="424636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74" y="660871"/>
            <a:ext cx="4246364" cy="42463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29908" y="1110381"/>
            <a:ext cx="4246364" cy="1637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No single algorithm is universally optimal. The right choice depends on the institution's primary network management goals. When deployed together within a well-integrated SDN architecture, the three algorithms address security, performance, and access control as complementary, interdependent concerns.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644720" y="2748300"/>
            <a:ext cx="4342398" cy="1167928"/>
          </a:xfrm>
          <a:prstGeom prst="roundRect">
            <a:avLst>
              <a:gd name="adj" fmla="val 3614"/>
            </a:avLst>
          </a:prstGeom>
          <a:solidFill>
            <a:srgbClr val="022349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907" y="2869853"/>
            <a:ext cx="86246" cy="689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85134" y="2834953"/>
            <a:ext cx="3953173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Regular monitoring and fine-tuning are essential to sustaining algorithmic efficiency across changing network conditions.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8AF8EB-E47F-1CCF-857E-350F907759A8}"/>
              </a:ext>
            </a:extLst>
          </p:cNvPr>
          <p:cNvSpPr/>
          <p:nvPr/>
        </p:nvSpPr>
        <p:spPr>
          <a:xfrm>
            <a:off x="-195270" y="-93614"/>
            <a:ext cx="9333913" cy="53264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7192B5-EBBB-385E-1061-06B4C9C27E77}"/>
              </a:ext>
            </a:extLst>
          </p:cNvPr>
          <p:cNvSpPr/>
          <p:nvPr/>
        </p:nvSpPr>
        <p:spPr>
          <a:xfrm>
            <a:off x="7293741" y="-7163"/>
            <a:ext cx="1400087" cy="446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C71B25-D23F-1958-04EA-96341588F5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68" y="49005"/>
            <a:ext cx="1210261" cy="3900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AA29553-0A66-47DD-B5B4-536445CC2958}"/>
              </a:ext>
            </a:extLst>
          </p:cNvPr>
          <p:cNvSpPr txBox="1"/>
          <p:nvPr/>
        </p:nvSpPr>
        <p:spPr>
          <a:xfrm>
            <a:off x="-200628" y="0"/>
            <a:ext cx="748901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F718A3-C81A-2F4A-D1D6-8331A57AC3E4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8989263-E84D-C9BA-7896-DD99DDB9CAF7}"/>
              </a:ext>
            </a:extLst>
          </p:cNvPr>
          <p:cNvSpPr/>
          <p:nvPr/>
        </p:nvSpPr>
        <p:spPr>
          <a:xfrm>
            <a:off x="-189913" y="-91440"/>
            <a:ext cx="9333914" cy="5289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88" y="1342802"/>
            <a:ext cx="423788" cy="4237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9284" y="1342802"/>
            <a:ext cx="1335435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Optimized Performance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59284" y="1869058"/>
            <a:ext cx="1335435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SDN architecture reduces congestion and improves bandwidth utilization across all campus network segments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927" y="1342802"/>
            <a:ext cx="423788" cy="4237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52924" y="1342802"/>
            <a:ext cx="1335435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Enhanced Security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152924" y="1869058"/>
            <a:ext cx="1335435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DACA and Anomaly Detection algorithms dynamically manage access and proactively neutralize threats before escalation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567" y="1342802"/>
            <a:ext cx="423788" cy="4237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46563" y="1342802"/>
            <a:ext cx="1335435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Better User Experience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246563" y="1869058"/>
            <a:ext cx="1335435" cy="1284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QoS optimization guarantees reliable, prioritized access to critical applications for all campus users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9207" y="1342802"/>
            <a:ext cx="423788" cy="4237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40203" y="1342802"/>
            <a:ext cx="1335509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Scalable &amp; Adaptable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340203" y="1869058"/>
            <a:ext cx="1335509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The system accommodates evolving device types, user roles, and traffic demands — built for the future of higher education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68288" y="3731716"/>
            <a:ext cx="8207425" cy="782538"/>
          </a:xfrm>
          <a:prstGeom prst="roundRect">
            <a:avLst>
              <a:gd name="adj" fmla="val 2565"/>
            </a:avLst>
          </a:prstGeom>
          <a:solidFill>
            <a:srgbClr val="183A13"/>
          </a:solidFill>
          <a:ln/>
        </p:spPr>
      </p:sp>
      <p:sp>
        <p:nvSpPr>
          <p:cNvPr id="17" name="Text 10"/>
          <p:cNvSpPr/>
          <p:nvPr/>
        </p:nvSpPr>
        <p:spPr>
          <a:xfrm>
            <a:off x="593373" y="3842074"/>
            <a:ext cx="8005256" cy="58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ea typeface="Montserrat Medium" pitchFamily="34" charset="-122"/>
                <a:cs typeface="Times New Roman" panose="02020603050405020304" pitchFamily="18" charset="0"/>
              </a:rPr>
              <a:t>Institutions that adopt Secure SDN architectures gain a measurable operational advantage — reducing administrative complexity while elevating network quality for every stakeholder.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A9AAE9-956C-C389-49D9-037588B1EEE5}"/>
              </a:ext>
            </a:extLst>
          </p:cNvPr>
          <p:cNvSpPr/>
          <p:nvPr/>
        </p:nvSpPr>
        <p:spPr>
          <a:xfrm>
            <a:off x="-189913" y="-91440"/>
            <a:ext cx="9333913" cy="53264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551444-CB42-2794-AC61-5759053512E6}"/>
              </a:ext>
            </a:extLst>
          </p:cNvPr>
          <p:cNvSpPr/>
          <p:nvPr/>
        </p:nvSpPr>
        <p:spPr>
          <a:xfrm>
            <a:off x="7293741" y="-7163"/>
            <a:ext cx="1400087" cy="446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241783-507B-432D-B13F-C58ADDEED2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68" y="49005"/>
            <a:ext cx="1210261" cy="39002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39E2907-FF88-7273-1AF4-606AE9FFAFA9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-189913" y="9714"/>
            <a:ext cx="7483082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latin typeface="Times New Roman" panose="02020603050405020304" pitchFamily="18" charset="0"/>
                <a:ea typeface="Brygada 1918 Bold" pitchFamily="34" charset="-122"/>
                <a:cs typeface="Times New Roman" panose="02020603050405020304" pitchFamily="18" charset="0"/>
              </a:rPr>
              <a:t>Conclusion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48BE5-3DED-5E51-899D-8C306EAC6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188881F-1BAF-9924-6E78-7131BE99DB2F}"/>
              </a:ext>
            </a:extLst>
          </p:cNvPr>
          <p:cNvSpPr/>
          <p:nvPr/>
        </p:nvSpPr>
        <p:spPr>
          <a:xfrm>
            <a:off x="-189913" y="-91440"/>
            <a:ext cx="9333914" cy="5289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F40800-AAF2-01DB-519B-48A7A0CEBD68}"/>
              </a:ext>
            </a:extLst>
          </p:cNvPr>
          <p:cNvSpPr/>
          <p:nvPr/>
        </p:nvSpPr>
        <p:spPr>
          <a:xfrm>
            <a:off x="-189913" y="-91440"/>
            <a:ext cx="9333913" cy="53264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584CAA-D656-D3E0-0BB5-1B52194C9FB5}"/>
              </a:ext>
            </a:extLst>
          </p:cNvPr>
          <p:cNvSpPr/>
          <p:nvPr/>
        </p:nvSpPr>
        <p:spPr>
          <a:xfrm>
            <a:off x="7293741" y="-7163"/>
            <a:ext cx="1400087" cy="446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36FD40-A2E7-33D8-4914-373A9DC4B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68" y="49005"/>
            <a:ext cx="1210261" cy="39002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5300EF0-E737-7D11-6269-EE8A56809AE6}"/>
              </a:ext>
            </a:extLst>
          </p:cNvPr>
          <p:cNvSpPr/>
          <p:nvPr/>
        </p:nvSpPr>
        <p:spPr>
          <a:xfrm>
            <a:off x="-189913" y="4989166"/>
            <a:ext cx="9333913" cy="20884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Shape 1">
            <a:extLst>
              <a:ext uri="{FF2B5EF4-FFF2-40B4-BE49-F238E27FC236}">
                <a16:creationId xmlns:a16="http://schemas.microsoft.com/office/drawing/2014/main" id="{D61DFFFA-1ADA-84EC-DFA0-2E9AA674314F}"/>
              </a:ext>
            </a:extLst>
          </p:cNvPr>
          <p:cNvSpPr txBox="1"/>
          <p:nvPr/>
        </p:nvSpPr>
        <p:spPr>
          <a:xfrm>
            <a:off x="927284" y="1532135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67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863</Words>
  <Application>Microsoft Office PowerPoint</Application>
  <PresentationFormat>On-screen Show (16:9)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Brygada 1918 Bold</vt:lpstr>
      <vt:lpstr>Arial</vt:lpstr>
      <vt:lpstr>Montserrat Medium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Nampreet Singh</cp:lastModifiedBy>
  <cp:revision>2</cp:revision>
  <dcterms:created xsi:type="dcterms:W3CDTF">2026-05-19T05:20:37Z</dcterms:created>
  <dcterms:modified xsi:type="dcterms:W3CDTF">2026-05-19T05:59:26Z</dcterms:modified>
</cp:coreProperties>
</file>